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6" r:id="rId2"/>
    <p:sldId id="257" r:id="rId3"/>
    <p:sldId id="596" r:id="rId4"/>
  </p:sldIdLst>
  <p:sldSz cx="22860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6327"/>
  </p:normalViewPr>
  <p:slideViewPr>
    <p:cSldViewPr snapToGrid="0">
      <p:cViewPr>
        <p:scale>
          <a:sx n="117" d="100"/>
          <a:sy n="117" d="100"/>
        </p:scale>
        <p:origin x="-1696"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AFBC3F-E411-A249-8814-41FC58B48943}" type="datetimeFigureOut">
              <a:rPr lang="en-US" smtClean="0"/>
              <a:t>12/12/22</a:t>
            </a:fld>
            <a:endParaRPr lang="en-US"/>
          </a:p>
        </p:txBody>
      </p:sp>
      <p:sp>
        <p:nvSpPr>
          <p:cNvPr id="4" name="Slide Image Placeholder 3"/>
          <p:cNvSpPr>
            <a:spLocks noGrp="1" noRot="1" noChangeAspect="1"/>
          </p:cNvSpPr>
          <p:nvPr>
            <p:ph type="sldImg" idx="2"/>
          </p:nvPr>
        </p:nvSpPr>
        <p:spPr>
          <a:xfrm>
            <a:off x="-1714500" y="1143000"/>
            <a:ext cx="10287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82BF97-5E8A-D648-B696-C075EF5FA8F0}" type="slidenum">
              <a:rPr lang="en-US" smtClean="0"/>
              <a:t>‹#›</a:t>
            </a:fld>
            <a:endParaRPr lang="en-US"/>
          </a:p>
        </p:txBody>
      </p:sp>
    </p:spTree>
    <p:extLst>
      <p:ext uri="{BB962C8B-B14F-4D97-AF65-F5344CB8AC3E}">
        <p14:creationId xmlns:p14="http://schemas.microsoft.com/office/powerpoint/2010/main" val="4286385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0" y="1143000"/>
            <a:ext cx="10287000" cy="3086100"/>
          </a:xfrm>
        </p:spPr>
      </p:sp>
      <p:sp>
        <p:nvSpPr>
          <p:cNvPr id="3" name="Notes Placeholder 2"/>
          <p:cNvSpPr>
            <a:spLocks noGrp="1"/>
          </p:cNvSpPr>
          <p:nvPr>
            <p:ph type="body" idx="1"/>
          </p:nvPr>
        </p:nvSpPr>
        <p:spPr/>
        <p:txBody>
          <a:bodyPr/>
          <a:lstStyle/>
          <a:p>
            <a:r>
              <a:rPr lang="en-US" dirty="0"/>
              <a:t>First, I find 5 topics of driverless technologies are most relevant to the public.</a:t>
            </a:r>
          </a:p>
          <a:p>
            <a:r>
              <a:rPr lang="en-US" dirty="0"/>
              <a:t>They care about safety, technology development, industrial integration, design and functionality, and ethics and policy. </a:t>
            </a:r>
          </a:p>
          <a:p>
            <a:r>
              <a:rPr lang="en-US" dirty="0"/>
              <a:t>Besides the overlapping concerns with experts in safety, tech, and ethics, it is interesting to see the public discuss a lot about AV designs and prototypes, they cares about design for kids and want to include solar and remote control in the prototype. </a:t>
            </a:r>
          </a:p>
          <a:p>
            <a:r>
              <a:rPr lang="en-US" dirty="0"/>
              <a:t>With respect to the industrial integration, the public also cares how other transportation modes can better integrate with AVs on the road, they mention terms such as shuttle, bus, transit, bike, city in this topic, which suggests the public also has their visions towards autonomous driving.</a:t>
            </a:r>
          </a:p>
          <a:p>
            <a:endParaRPr lang="en-US" dirty="0"/>
          </a:p>
        </p:txBody>
      </p:sp>
      <p:sp>
        <p:nvSpPr>
          <p:cNvPr id="4" name="Slide Number Placeholder 3"/>
          <p:cNvSpPr>
            <a:spLocks noGrp="1"/>
          </p:cNvSpPr>
          <p:nvPr>
            <p:ph type="sldNum" sz="quarter" idx="5"/>
          </p:nvPr>
        </p:nvSpPr>
        <p:spPr/>
        <p:txBody>
          <a:bodyPr/>
          <a:lstStyle/>
          <a:p>
            <a:fld id="{15E09E51-BBDE-42D2-8131-027EDD07B3EE}" type="slidenum">
              <a:rPr lang="en-US" smtClean="0"/>
              <a:t>3</a:t>
            </a:fld>
            <a:endParaRPr lang="en-US"/>
          </a:p>
        </p:txBody>
      </p:sp>
    </p:spTree>
    <p:extLst>
      <p:ext uri="{BB962C8B-B14F-4D97-AF65-F5344CB8AC3E}">
        <p14:creationId xmlns:p14="http://schemas.microsoft.com/office/powerpoint/2010/main" val="710152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57500" y="1122363"/>
            <a:ext cx="17145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2857500" y="3602038"/>
            <a:ext cx="17145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0F60D4-7817-F344-A5EB-431538F2DBBF}" type="datetimeFigureOut">
              <a:rPr lang="en-US" smtClean="0"/>
              <a:t>12/12/22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4226227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0F60D4-7817-F344-A5EB-431538F2DBBF}" type="datetimeFigureOut">
              <a:rPr lang="en-US" smtClean="0"/>
              <a:t>12/12/22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1498607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59719" y="1709739"/>
            <a:ext cx="1971675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559719" y="4589464"/>
            <a:ext cx="1971675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F60D4-7817-F344-A5EB-431538F2DBBF}" type="datetimeFigureOut">
              <a:rPr lang="en-US" smtClean="0"/>
              <a:t>12/12/22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2081501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71625" y="1825625"/>
            <a:ext cx="9715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572875" y="1825625"/>
            <a:ext cx="9715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0F60D4-7817-F344-A5EB-431538F2DBBF}" type="datetimeFigureOut">
              <a:rPr lang="en-US" smtClean="0"/>
              <a:t>12/12/22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65345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74603" y="365126"/>
            <a:ext cx="1971675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74603" y="1681163"/>
            <a:ext cx="967085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74603" y="2505075"/>
            <a:ext cx="967085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572875" y="1681163"/>
            <a:ext cx="97184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1572875" y="2505075"/>
            <a:ext cx="971847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0F60D4-7817-F344-A5EB-431538F2DBBF}" type="datetimeFigureOut">
              <a:rPr lang="en-US" smtClean="0"/>
              <a:t>12/12/22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256303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0F60D4-7817-F344-A5EB-431538F2DBBF}" type="datetimeFigureOut">
              <a:rPr lang="en-US" smtClean="0"/>
              <a:t>12/12/22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3402984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F60D4-7817-F344-A5EB-431538F2DBBF}" type="datetimeFigureOut">
              <a:rPr lang="en-US" smtClean="0"/>
              <a:t>12/12/22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2000769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604" y="457200"/>
            <a:ext cx="7372944"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9718477" y="987426"/>
            <a:ext cx="115728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74604" y="2057400"/>
            <a:ext cx="737294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0F60D4-7817-F344-A5EB-431538F2DBBF}" type="datetimeFigureOut">
              <a:rPr lang="en-US" smtClean="0"/>
              <a:t>12/12/22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2527931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604" y="457200"/>
            <a:ext cx="7372944"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18477" y="987426"/>
            <a:ext cx="1157287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74604" y="2057400"/>
            <a:ext cx="737294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0F60D4-7817-F344-A5EB-431538F2DBBF}" type="datetimeFigureOut">
              <a:rPr lang="en-US" smtClean="0"/>
              <a:t>12/12/22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1904745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0F60D4-7817-F344-A5EB-431538F2DBBF}" type="datetimeFigureOut">
              <a:rPr lang="en-US" smtClean="0"/>
              <a:t>12/12/22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1004337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359187" y="365125"/>
            <a:ext cx="4929188"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71625" y="365125"/>
            <a:ext cx="14501813"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0F60D4-7817-F344-A5EB-431538F2DBBF}" type="datetimeFigureOut">
              <a:rPr lang="en-US" smtClean="0"/>
              <a:t>12/12/22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53D312-3303-A64B-89E6-CCE967EEE55D}" type="slidenum">
              <a:rPr lang="en-US" smtClean="0"/>
              <a:t>‹#›</a:t>
            </a:fld>
            <a:endParaRPr lang="en-US"/>
          </a:p>
        </p:txBody>
      </p:sp>
    </p:spTree>
    <p:extLst>
      <p:ext uri="{BB962C8B-B14F-4D97-AF65-F5344CB8AC3E}">
        <p14:creationId xmlns:p14="http://schemas.microsoft.com/office/powerpoint/2010/main" val="3710374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71625" y="365126"/>
            <a:ext cx="1971675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71625" y="1825625"/>
            <a:ext cx="197167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71625" y="6356351"/>
            <a:ext cx="51435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F60D4-7817-F344-A5EB-431538F2DBBF}" type="datetimeFigureOut">
              <a:rPr lang="en-US" smtClean="0"/>
              <a:t>12/12/22</a:t>
            </a:fld>
            <a:endParaRPr lang="en-US"/>
          </a:p>
        </p:txBody>
      </p:sp>
      <p:sp>
        <p:nvSpPr>
          <p:cNvPr id="5" name="Footer Placeholder 4"/>
          <p:cNvSpPr>
            <a:spLocks noGrp="1"/>
          </p:cNvSpPr>
          <p:nvPr>
            <p:ph type="ftr" sz="quarter" idx="3"/>
          </p:nvPr>
        </p:nvSpPr>
        <p:spPr>
          <a:xfrm>
            <a:off x="7572375" y="6356351"/>
            <a:ext cx="77152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6144875" y="6356351"/>
            <a:ext cx="51435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53D312-3303-A64B-89E6-CCE967EEE55D}" type="slidenum">
              <a:rPr lang="en-US" smtClean="0"/>
              <a:t>‹#›</a:t>
            </a:fld>
            <a:endParaRPr lang="en-US"/>
          </a:p>
        </p:txBody>
      </p:sp>
    </p:spTree>
    <p:extLst>
      <p:ext uri="{BB962C8B-B14F-4D97-AF65-F5344CB8AC3E}">
        <p14:creationId xmlns:p14="http://schemas.microsoft.com/office/powerpoint/2010/main" val="16134733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14F01-5583-E3A9-338D-B6C65A4B1F1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383FB42-3348-C2EE-DB9C-84FA4113572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04932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606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3799A1A-E220-D342-A2D2-0337D1C741F7}"/>
              </a:ext>
            </a:extLst>
          </p:cNvPr>
          <p:cNvPicPr>
            <a:picLocks noChangeAspect="1"/>
          </p:cNvPicPr>
          <p:nvPr/>
        </p:nvPicPr>
        <p:blipFill>
          <a:blip r:embed="rId3"/>
          <a:stretch>
            <a:fillRect/>
          </a:stretch>
        </p:blipFill>
        <p:spPr>
          <a:xfrm>
            <a:off x="16468402" y="2215471"/>
            <a:ext cx="3348214" cy="2467105"/>
          </a:xfrm>
          <a:prstGeom prst="rect">
            <a:avLst/>
          </a:prstGeom>
        </p:spPr>
      </p:pic>
      <p:pic>
        <p:nvPicPr>
          <p:cNvPr id="20" name="Picture 19">
            <a:extLst>
              <a:ext uri="{FF2B5EF4-FFF2-40B4-BE49-F238E27FC236}">
                <a16:creationId xmlns:a16="http://schemas.microsoft.com/office/drawing/2014/main" id="{9C120F07-7F2F-C940-B55C-74BAFDA916BA}"/>
              </a:ext>
            </a:extLst>
          </p:cNvPr>
          <p:cNvPicPr>
            <a:picLocks noChangeAspect="1"/>
          </p:cNvPicPr>
          <p:nvPr/>
        </p:nvPicPr>
        <p:blipFill>
          <a:blip r:embed="rId4"/>
          <a:stretch>
            <a:fillRect/>
          </a:stretch>
        </p:blipFill>
        <p:spPr>
          <a:xfrm>
            <a:off x="12883579" y="2327136"/>
            <a:ext cx="3566095" cy="2243777"/>
          </a:xfrm>
          <a:prstGeom prst="rect">
            <a:avLst/>
          </a:prstGeom>
        </p:spPr>
      </p:pic>
      <p:pic>
        <p:nvPicPr>
          <p:cNvPr id="5" name="Picture 4">
            <a:extLst>
              <a:ext uri="{FF2B5EF4-FFF2-40B4-BE49-F238E27FC236}">
                <a16:creationId xmlns:a16="http://schemas.microsoft.com/office/drawing/2014/main" id="{33547D34-815B-D14E-B818-004D6B79331F}"/>
              </a:ext>
            </a:extLst>
          </p:cNvPr>
          <p:cNvPicPr>
            <a:picLocks noChangeAspect="1"/>
          </p:cNvPicPr>
          <p:nvPr/>
        </p:nvPicPr>
        <p:blipFill>
          <a:blip r:embed="rId5"/>
          <a:stretch>
            <a:fillRect/>
          </a:stretch>
        </p:blipFill>
        <p:spPr>
          <a:xfrm>
            <a:off x="2659630" y="1951603"/>
            <a:ext cx="3229830" cy="3168633"/>
          </a:xfrm>
          <a:prstGeom prst="rect">
            <a:avLst/>
          </a:prstGeom>
        </p:spPr>
      </p:pic>
      <p:pic>
        <p:nvPicPr>
          <p:cNvPr id="6" name="Picture 5">
            <a:extLst>
              <a:ext uri="{FF2B5EF4-FFF2-40B4-BE49-F238E27FC236}">
                <a16:creationId xmlns:a16="http://schemas.microsoft.com/office/drawing/2014/main" id="{BA2BCC78-9EC4-6F44-86C2-74E0BAC6FB9D}"/>
              </a:ext>
            </a:extLst>
          </p:cNvPr>
          <p:cNvPicPr>
            <a:picLocks noChangeAspect="1"/>
          </p:cNvPicPr>
          <p:nvPr/>
        </p:nvPicPr>
        <p:blipFill>
          <a:blip r:embed="rId6"/>
          <a:stretch>
            <a:fillRect/>
          </a:stretch>
        </p:blipFill>
        <p:spPr>
          <a:xfrm>
            <a:off x="6007845" y="2205761"/>
            <a:ext cx="3364395" cy="2514054"/>
          </a:xfrm>
          <a:prstGeom prst="rect">
            <a:avLst/>
          </a:prstGeom>
        </p:spPr>
      </p:pic>
      <p:sp>
        <p:nvSpPr>
          <p:cNvPr id="7" name="Rectangle 6">
            <a:extLst>
              <a:ext uri="{FF2B5EF4-FFF2-40B4-BE49-F238E27FC236}">
                <a16:creationId xmlns:a16="http://schemas.microsoft.com/office/drawing/2014/main" id="{68CE1A2E-100E-5945-9208-75566000738B}"/>
              </a:ext>
            </a:extLst>
          </p:cNvPr>
          <p:cNvSpPr/>
          <p:nvPr/>
        </p:nvSpPr>
        <p:spPr>
          <a:xfrm>
            <a:off x="2659630" y="1951602"/>
            <a:ext cx="3348214" cy="3168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Georgia" panose="02040502050405020303" pitchFamily="18" charset="0"/>
            </a:endParaRPr>
          </a:p>
        </p:txBody>
      </p:sp>
      <p:sp>
        <p:nvSpPr>
          <p:cNvPr id="8" name="TextBox 7">
            <a:extLst>
              <a:ext uri="{FF2B5EF4-FFF2-40B4-BE49-F238E27FC236}">
                <a16:creationId xmlns:a16="http://schemas.microsoft.com/office/drawing/2014/main" id="{487C83AD-17A1-DB40-ADE8-CF4044403A68}"/>
              </a:ext>
            </a:extLst>
          </p:cNvPr>
          <p:cNvSpPr txBox="1"/>
          <p:nvPr/>
        </p:nvSpPr>
        <p:spPr>
          <a:xfrm>
            <a:off x="2659630" y="1568692"/>
            <a:ext cx="3348214" cy="369332"/>
          </a:xfrm>
          <a:prstGeom prst="rect">
            <a:avLst/>
          </a:prstGeom>
          <a:noFill/>
          <a:ln>
            <a:noFill/>
          </a:ln>
        </p:spPr>
        <p:txBody>
          <a:bodyPr wrap="square" rtlCol="0">
            <a:spAutoFit/>
          </a:bodyPr>
          <a:lstStyle/>
          <a:p>
            <a:pPr algn="ctr"/>
            <a:r>
              <a:rPr lang="en-US" b="1" dirty="0">
                <a:solidFill>
                  <a:schemeClr val="accent1"/>
                </a:solidFill>
              </a:rPr>
              <a:t>Safety Perception</a:t>
            </a:r>
          </a:p>
        </p:txBody>
      </p:sp>
      <p:sp>
        <p:nvSpPr>
          <p:cNvPr id="9" name="Rectangle 8">
            <a:extLst>
              <a:ext uri="{FF2B5EF4-FFF2-40B4-BE49-F238E27FC236}">
                <a16:creationId xmlns:a16="http://schemas.microsoft.com/office/drawing/2014/main" id="{3EE7AE71-C46F-2943-8047-136E471D821D}"/>
              </a:ext>
            </a:extLst>
          </p:cNvPr>
          <p:cNvSpPr/>
          <p:nvPr/>
        </p:nvSpPr>
        <p:spPr>
          <a:xfrm>
            <a:off x="6067613" y="1951602"/>
            <a:ext cx="3348214" cy="3168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Georgia" panose="02040502050405020303" pitchFamily="18" charset="0"/>
            </a:endParaRPr>
          </a:p>
        </p:txBody>
      </p:sp>
      <p:sp>
        <p:nvSpPr>
          <p:cNvPr id="10" name="TextBox 9">
            <a:extLst>
              <a:ext uri="{FF2B5EF4-FFF2-40B4-BE49-F238E27FC236}">
                <a16:creationId xmlns:a16="http://schemas.microsoft.com/office/drawing/2014/main" id="{E50648B9-6D5F-9A40-9448-69F09BDE1F51}"/>
              </a:ext>
            </a:extLst>
          </p:cNvPr>
          <p:cNvSpPr txBox="1"/>
          <p:nvPr/>
        </p:nvSpPr>
        <p:spPr>
          <a:xfrm>
            <a:off x="6067613" y="1568692"/>
            <a:ext cx="3348214" cy="369332"/>
          </a:xfrm>
          <a:prstGeom prst="rect">
            <a:avLst/>
          </a:prstGeom>
          <a:noFill/>
        </p:spPr>
        <p:txBody>
          <a:bodyPr wrap="square" rtlCol="0">
            <a:spAutoFit/>
          </a:bodyPr>
          <a:lstStyle/>
          <a:p>
            <a:pPr algn="ctr"/>
            <a:r>
              <a:rPr lang="en-US" b="1" dirty="0">
                <a:solidFill>
                  <a:schemeClr val="accent2"/>
                </a:solidFill>
              </a:rPr>
              <a:t>Technology Development</a:t>
            </a:r>
          </a:p>
        </p:txBody>
      </p:sp>
      <p:pic>
        <p:nvPicPr>
          <p:cNvPr id="11" name="Picture 10">
            <a:extLst>
              <a:ext uri="{FF2B5EF4-FFF2-40B4-BE49-F238E27FC236}">
                <a16:creationId xmlns:a16="http://schemas.microsoft.com/office/drawing/2014/main" id="{8DABFF6D-80B9-F246-B20B-75346DD66C44}"/>
              </a:ext>
            </a:extLst>
          </p:cNvPr>
          <p:cNvPicPr>
            <a:picLocks noChangeAspect="1"/>
          </p:cNvPicPr>
          <p:nvPr/>
        </p:nvPicPr>
        <p:blipFill>
          <a:blip r:embed="rId7"/>
          <a:stretch>
            <a:fillRect/>
          </a:stretch>
        </p:blipFill>
        <p:spPr>
          <a:xfrm>
            <a:off x="9514810" y="2185760"/>
            <a:ext cx="3309001" cy="2399026"/>
          </a:xfrm>
          <a:prstGeom prst="rect">
            <a:avLst/>
          </a:prstGeom>
        </p:spPr>
      </p:pic>
      <p:sp>
        <p:nvSpPr>
          <p:cNvPr id="12" name="Rectangle 11">
            <a:extLst>
              <a:ext uri="{FF2B5EF4-FFF2-40B4-BE49-F238E27FC236}">
                <a16:creationId xmlns:a16="http://schemas.microsoft.com/office/drawing/2014/main" id="{841EED0F-4811-164E-8057-AC73C6F4A361}"/>
              </a:ext>
            </a:extLst>
          </p:cNvPr>
          <p:cNvSpPr/>
          <p:nvPr/>
        </p:nvSpPr>
        <p:spPr>
          <a:xfrm>
            <a:off x="9475596" y="1951602"/>
            <a:ext cx="3348214" cy="3168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Georgia" panose="02040502050405020303" pitchFamily="18" charset="0"/>
            </a:endParaRPr>
          </a:p>
        </p:txBody>
      </p:sp>
      <p:sp>
        <p:nvSpPr>
          <p:cNvPr id="13" name="TextBox 12">
            <a:extLst>
              <a:ext uri="{FF2B5EF4-FFF2-40B4-BE49-F238E27FC236}">
                <a16:creationId xmlns:a16="http://schemas.microsoft.com/office/drawing/2014/main" id="{585061E0-22EC-C149-B3A1-35F1BC6ACC57}"/>
              </a:ext>
            </a:extLst>
          </p:cNvPr>
          <p:cNvSpPr txBox="1"/>
          <p:nvPr/>
        </p:nvSpPr>
        <p:spPr>
          <a:xfrm>
            <a:off x="9475596" y="1568692"/>
            <a:ext cx="3348214" cy="369332"/>
          </a:xfrm>
          <a:prstGeom prst="rect">
            <a:avLst/>
          </a:prstGeom>
          <a:noFill/>
          <a:ln>
            <a:noFill/>
          </a:ln>
        </p:spPr>
        <p:txBody>
          <a:bodyPr wrap="square" rtlCol="0">
            <a:spAutoFit/>
          </a:bodyPr>
          <a:lstStyle/>
          <a:p>
            <a:pPr algn="ctr"/>
            <a:r>
              <a:rPr lang="en-US" b="1" dirty="0">
                <a:solidFill>
                  <a:schemeClr val="accent4"/>
                </a:solidFill>
              </a:rPr>
              <a:t>Industrial Integration</a:t>
            </a:r>
          </a:p>
        </p:txBody>
      </p:sp>
      <p:sp>
        <p:nvSpPr>
          <p:cNvPr id="14" name="TextBox 13">
            <a:extLst>
              <a:ext uri="{FF2B5EF4-FFF2-40B4-BE49-F238E27FC236}">
                <a16:creationId xmlns:a16="http://schemas.microsoft.com/office/drawing/2014/main" id="{5A2E9D9A-1066-A244-A073-E07963D97D75}"/>
              </a:ext>
            </a:extLst>
          </p:cNvPr>
          <p:cNvSpPr txBox="1"/>
          <p:nvPr/>
        </p:nvSpPr>
        <p:spPr>
          <a:xfrm>
            <a:off x="8117872" y="494432"/>
            <a:ext cx="6063661" cy="523220"/>
          </a:xfrm>
          <a:prstGeom prst="rect">
            <a:avLst/>
          </a:prstGeom>
          <a:noFill/>
        </p:spPr>
        <p:txBody>
          <a:bodyPr wrap="square" rtlCol="0">
            <a:spAutoFit/>
          </a:bodyPr>
          <a:lstStyle/>
          <a:p>
            <a:pPr algn="ctr"/>
            <a:r>
              <a:rPr lang="en-US" sz="2800" b="1" dirty="0"/>
              <a:t>What does the public care</a:t>
            </a:r>
            <a:r>
              <a:rPr lang="zh-CN" altLang="en-US" sz="2800" b="1" dirty="0"/>
              <a:t> </a:t>
            </a:r>
            <a:r>
              <a:rPr lang="en-US" altLang="zh-CN" sz="2800" b="1" dirty="0"/>
              <a:t>about</a:t>
            </a:r>
            <a:r>
              <a:rPr lang="en-US" sz="2800" b="1" dirty="0"/>
              <a:t>?</a:t>
            </a:r>
          </a:p>
        </p:txBody>
      </p:sp>
      <p:sp>
        <p:nvSpPr>
          <p:cNvPr id="15" name="Rectangle 14">
            <a:extLst>
              <a:ext uri="{FF2B5EF4-FFF2-40B4-BE49-F238E27FC236}">
                <a16:creationId xmlns:a16="http://schemas.microsoft.com/office/drawing/2014/main" id="{B9971D83-86FB-FF46-B89A-7C1AA4FEBB53}"/>
              </a:ext>
            </a:extLst>
          </p:cNvPr>
          <p:cNvSpPr/>
          <p:nvPr/>
        </p:nvSpPr>
        <p:spPr>
          <a:xfrm>
            <a:off x="13019589" y="1938035"/>
            <a:ext cx="3348214" cy="2569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Georgia" panose="02040502050405020303" pitchFamily="18" charset="0"/>
            </a:endParaRPr>
          </a:p>
        </p:txBody>
      </p:sp>
      <p:sp>
        <p:nvSpPr>
          <p:cNvPr id="16" name="TextBox 15">
            <a:extLst>
              <a:ext uri="{FF2B5EF4-FFF2-40B4-BE49-F238E27FC236}">
                <a16:creationId xmlns:a16="http://schemas.microsoft.com/office/drawing/2014/main" id="{CBA403FC-6BA6-E340-9503-B47EA70248C3}"/>
              </a:ext>
            </a:extLst>
          </p:cNvPr>
          <p:cNvSpPr txBox="1"/>
          <p:nvPr/>
        </p:nvSpPr>
        <p:spPr>
          <a:xfrm>
            <a:off x="13019589" y="1555125"/>
            <a:ext cx="3348214" cy="369332"/>
          </a:xfrm>
          <a:prstGeom prst="rect">
            <a:avLst/>
          </a:prstGeom>
          <a:noFill/>
        </p:spPr>
        <p:txBody>
          <a:bodyPr wrap="square" rtlCol="0">
            <a:spAutoFit/>
          </a:bodyPr>
          <a:lstStyle/>
          <a:p>
            <a:pPr algn="ctr"/>
            <a:r>
              <a:rPr lang="en-US" b="1" dirty="0">
                <a:solidFill>
                  <a:schemeClr val="accent6"/>
                </a:solidFill>
              </a:rPr>
              <a:t>Design and Functionality</a:t>
            </a:r>
          </a:p>
        </p:txBody>
      </p:sp>
      <p:sp>
        <p:nvSpPr>
          <p:cNvPr id="17" name="Rectangle 16">
            <a:extLst>
              <a:ext uri="{FF2B5EF4-FFF2-40B4-BE49-F238E27FC236}">
                <a16:creationId xmlns:a16="http://schemas.microsoft.com/office/drawing/2014/main" id="{03C94EE9-329C-6B4F-B661-C7D5099342AE}"/>
              </a:ext>
            </a:extLst>
          </p:cNvPr>
          <p:cNvSpPr/>
          <p:nvPr/>
        </p:nvSpPr>
        <p:spPr>
          <a:xfrm>
            <a:off x="16427572" y="1938035"/>
            <a:ext cx="3348214" cy="2569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Georgia" panose="02040502050405020303" pitchFamily="18" charset="0"/>
            </a:endParaRPr>
          </a:p>
        </p:txBody>
      </p:sp>
      <p:sp>
        <p:nvSpPr>
          <p:cNvPr id="18" name="TextBox 17">
            <a:extLst>
              <a:ext uri="{FF2B5EF4-FFF2-40B4-BE49-F238E27FC236}">
                <a16:creationId xmlns:a16="http://schemas.microsoft.com/office/drawing/2014/main" id="{6A976BE5-2D19-AE45-A9CB-7CA92D65B1F9}"/>
              </a:ext>
            </a:extLst>
          </p:cNvPr>
          <p:cNvSpPr txBox="1"/>
          <p:nvPr/>
        </p:nvSpPr>
        <p:spPr>
          <a:xfrm>
            <a:off x="16427572" y="1555125"/>
            <a:ext cx="3348214" cy="369332"/>
          </a:xfrm>
          <a:prstGeom prst="rect">
            <a:avLst/>
          </a:prstGeom>
          <a:noFill/>
        </p:spPr>
        <p:txBody>
          <a:bodyPr wrap="square" rtlCol="0">
            <a:spAutoFit/>
          </a:bodyPr>
          <a:lstStyle/>
          <a:p>
            <a:pPr algn="ctr"/>
            <a:r>
              <a:rPr lang="en-US" b="1" dirty="0">
                <a:solidFill>
                  <a:srgbClr val="C00000"/>
                </a:solidFill>
              </a:rPr>
              <a:t>Ethics and Policy</a:t>
            </a:r>
          </a:p>
        </p:txBody>
      </p:sp>
      <p:sp>
        <p:nvSpPr>
          <p:cNvPr id="2" name="Rounded Rectangle 1">
            <a:extLst>
              <a:ext uri="{FF2B5EF4-FFF2-40B4-BE49-F238E27FC236}">
                <a16:creationId xmlns:a16="http://schemas.microsoft.com/office/drawing/2014/main" id="{6C727267-FC16-4A2E-97B1-7FB1181351DB}"/>
              </a:ext>
            </a:extLst>
          </p:cNvPr>
          <p:cNvSpPr/>
          <p:nvPr/>
        </p:nvSpPr>
        <p:spPr>
          <a:xfrm>
            <a:off x="2583388" y="1469369"/>
            <a:ext cx="3352007" cy="38199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DA318580-2730-AB3F-1503-AFF711DF99FD}"/>
              </a:ext>
            </a:extLst>
          </p:cNvPr>
          <p:cNvSpPr/>
          <p:nvPr/>
        </p:nvSpPr>
        <p:spPr>
          <a:xfrm>
            <a:off x="6054932" y="1469369"/>
            <a:ext cx="3301127" cy="381994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B7FD672F-447D-F1A8-2B90-4A288B4EE6B9}"/>
              </a:ext>
            </a:extLst>
          </p:cNvPr>
          <p:cNvSpPr/>
          <p:nvPr/>
        </p:nvSpPr>
        <p:spPr>
          <a:xfrm>
            <a:off x="9491777" y="1469369"/>
            <a:ext cx="3408275" cy="381994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940CD172-6B9C-465F-193E-2ED841C6E022}"/>
              </a:ext>
            </a:extLst>
          </p:cNvPr>
          <p:cNvSpPr/>
          <p:nvPr/>
        </p:nvSpPr>
        <p:spPr>
          <a:xfrm>
            <a:off x="13017635" y="1469369"/>
            <a:ext cx="3408275" cy="381994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8318749C-DCE2-405F-4F12-1B7F23E7E42B}"/>
              </a:ext>
            </a:extLst>
          </p:cNvPr>
          <p:cNvSpPr/>
          <p:nvPr/>
        </p:nvSpPr>
        <p:spPr>
          <a:xfrm>
            <a:off x="16543493" y="1469369"/>
            <a:ext cx="3408275" cy="381994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29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1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1000"/>
                                        <p:tgtEl>
                                          <p:spTgt spid="10"/>
                                        </p:tgtEl>
                                      </p:cBhvr>
                                    </p:animEffect>
                                  </p:childTnLst>
                                </p:cTn>
                              </p:par>
                              <p:par>
                                <p:cTn id="19" presetID="2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1000"/>
                                        <p:tgtEl>
                                          <p:spTgt spid="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1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1000"/>
                                        <p:tgtEl>
                                          <p:spTgt spid="13"/>
                                        </p:tgtEl>
                                      </p:cBhvr>
                                    </p:animEffect>
                                  </p:childTnLst>
                                </p:cTn>
                              </p:par>
                              <p:par>
                                <p:cTn id="30" presetID="22" presetClass="entr" presetSubtype="8"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000"/>
                                        <p:tgtEl>
                                          <p:spTgt spid="1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10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1000"/>
                                        <p:tgtEl>
                                          <p:spTgt spid="16"/>
                                        </p:tgtEl>
                                      </p:cBhvr>
                                    </p:animEffect>
                                  </p:childTnLst>
                                </p:cTn>
                              </p:par>
                              <p:par>
                                <p:cTn id="41" presetID="22" presetClass="entr" presetSubtype="8"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10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10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1000"/>
                                        <p:tgtEl>
                                          <p:spTgt spid="18"/>
                                        </p:tgtEl>
                                      </p:cBhvr>
                                    </p:animEffect>
                                  </p:childTnLst>
                                </p:cTn>
                              </p:par>
                              <p:par>
                                <p:cTn id="52" presetID="22" presetClass="entr" presetSubtype="8"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1000"/>
                                        <p:tgtEl>
                                          <p:spTgt spid="21"/>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P spid="12" grpId="0" animBg="1"/>
      <p:bldP spid="13" grpId="0"/>
      <p:bldP spid="15" grpId="0" animBg="1"/>
      <p:bldP spid="16" grpId="0"/>
      <p:bldP spid="17" grpId="0" animBg="1"/>
      <p:bldP spid="18"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1396</TotalTime>
  <Words>158</Words>
  <Application>Microsoft Macintosh PowerPoint</Application>
  <PresentationFormat>Custom</PresentationFormat>
  <Paragraphs>11</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Georgia</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Jiang, Zhiqiu</dc:creator>
  <cp:lastModifiedBy>Jiang, Zhiqiu</cp:lastModifiedBy>
  <cp:revision>2</cp:revision>
  <dcterms:created xsi:type="dcterms:W3CDTF">2022-12-12T12:13:50Z</dcterms:created>
  <dcterms:modified xsi:type="dcterms:W3CDTF">2022-12-13T11:30:17Z</dcterms:modified>
</cp:coreProperties>
</file>